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9" r:id="rId12"/>
    <p:sldId id="330" r:id="rId13"/>
    <p:sldId id="328" r:id="rId14"/>
    <p:sldId id="331" r:id="rId15"/>
    <p:sldId id="332" r:id="rId16"/>
    <p:sldId id="333" r:id="rId17"/>
    <p:sldId id="334" r:id="rId18"/>
    <p:sldId id="335" r:id="rId19"/>
    <p:sldId id="33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FFFFF"/>
    <a:srgbClr val="DCDCDC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2"/>
      </p:cViewPr>
      <p:guideLst>
        <p:guide orient="horz" pos="218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Dept. of CSE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Dept. of CSE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364673" cy="365125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5273" y="5706053"/>
            <a:ext cx="2216727" cy="1151947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Dept. of CSE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Dept. of CSE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Dept. of CSE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Dept. of CSE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" y="0"/>
            <a:ext cx="2814145" cy="869429"/>
          </a:xfrm>
          <a:prstGeom prst="rect">
            <a:avLst/>
          </a:prstGeom>
        </p:spPr>
      </p:pic>
      <p:pic>
        <p:nvPicPr>
          <p:cNvPr id="8" name="Picture 7" descr="CSE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1324590" y="0"/>
            <a:ext cx="865505" cy="8655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64180" y="984250"/>
            <a:ext cx="9799200" cy="2570400"/>
          </a:xfrm>
        </p:spPr>
        <p:txBody>
          <a:bodyPr>
            <a:normAutofit/>
          </a:bodyPr>
          <a:lstStyle/>
          <a:p>
            <a:r>
              <a:rPr lang="en-US" b="1" kern="0" dirty="0">
                <a:solidFill>
                  <a:srgbClr val="0020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Module-1</a:t>
            </a:r>
            <a:br>
              <a:rPr lang="en-US" b="1" kern="0" dirty="0">
                <a:solidFill>
                  <a:srgbClr val="0020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</a:br>
            <a:r>
              <a:rPr lang="en-US" b="1" kern="0" dirty="0" smtClean="0">
                <a:solidFill>
                  <a:srgbClr val="0020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Unit-2</a:t>
            </a:r>
            <a:r>
              <a:rPr lang="en-US" b="1" kern="0" dirty="0">
                <a:solidFill>
                  <a:srgbClr val="0020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/>
            </a:r>
            <a:br>
              <a:rPr lang="en-US" b="1" kern="0" dirty="0">
                <a:solidFill>
                  <a:srgbClr val="0020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</a:b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83220" y="3152618"/>
            <a:ext cx="8961120" cy="1419382"/>
          </a:xfrm>
          <a:prstGeom prst="rect">
            <a:avLst/>
          </a:prstGeom>
          <a:ln w="6350" cap="flat" cmpd="sng" algn="ctr">
            <a:noFill/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Experiment Tracking, Data and Model </a:t>
            </a:r>
            <a:r>
              <a:rPr lang="en-US" sz="4200" b="1" dirty="0" smtClean="0">
                <a:solidFill>
                  <a:schemeClr val="accent2">
                    <a:lumMod val="50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Management</a:t>
            </a:r>
            <a:endParaRPr lang="en-US" sz="3600" b="1" dirty="0" smtClean="0">
              <a:solidFill>
                <a:schemeClr val="accent2">
                  <a:lumMod val="50000"/>
                </a:schemeClr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4513580" cy="108013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F2D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/>
          <a:lstStyle/>
          <a:p>
            <a:pPr algn="just"/>
            <a:r>
              <a:rPr lang="en-US" sz="3600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sz="3600" b="1" dirty="0">
              <a:solidFill>
                <a:srgbClr val="1C273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en-US" sz="3600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Concept </a:t>
            </a:r>
          </a:p>
          <a:p>
            <a:pPr algn="just"/>
            <a:r>
              <a:rPr lang="en-US" sz="3600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Benefits </a:t>
            </a:r>
          </a:p>
          <a:p>
            <a:pPr algn="just"/>
            <a:r>
              <a:rPr lang="en-US" sz="3600" b="1" dirty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R</a:t>
            </a:r>
            <a:r>
              <a:rPr lang="en-US" sz="3600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ole </a:t>
            </a:r>
            <a:r>
              <a:rPr lang="en-US" sz="3600" b="1" dirty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in AI applications</a:t>
            </a:r>
            <a:endParaRPr lang="en-US" sz="3600" b="1" dirty="0">
              <a:solidFill>
                <a:srgbClr val="1C273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en-US" sz="3600" b="1" dirty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 overview</a:t>
            </a:r>
            <a:endParaRPr lang="en-US" sz="3600" b="1" dirty="0">
              <a:solidFill>
                <a:srgbClr val="1C273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just"/>
            <a:endParaRPr lang="en-US" sz="3600" dirty="0">
              <a:solidFill>
                <a:srgbClr val="1C273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just"/>
            <a:endParaRPr lang="en-US" sz="3600" dirty="0">
              <a:solidFill>
                <a:srgbClr val="1C273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sz="3200" dirty="0"/>
              <a:t>A feature is simply an input given to a model.</a:t>
            </a:r>
          </a:p>
          <a:p>
            <a:r>
              <a:rPr lang="en-US" sz="3200" dirty="0" smtClean="0"/>
              <a:t>A </a:t>
            </a:r>
            <a:r>
              <a:rPr lang="en-US" sz="3200" b="1" dirty="0"/>
              <a:t>feature store</a:t>
            </a:r>
            <a:r>
              <a:rPr lang="en-US" sz="3200" dirty="0"/>
              <a:t> is a system used to store, manage, share, and reuse the input features used by machine-learning models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Instead of calculating these features separately every time a model is trained, they can be created once and stored for reuse.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990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Why Do We Need a Feature Store</a:t>
            </a:r>
            <a:r>
              <a:rPr lang="en-US" b="1" dirty="0" smtClean="0"/>
              <a:t>?</a:t>
            </a:r>
          </a:p>
          <a:p>
            <a:r>
              <a:rPr lang="en-US" dirty="0"/>
              <a:t>Consider two teams developing different models.</a:t>
            </a:r>
          </a:p>
          <a:p>
            <a:pPr lvl="1"/>
            <a:r>
              <a:rPr lang="en-US" b="1" dirty="0"/>
              <a:t>Team A</a:t>
            </a:r>
          </a:p>
          <a:p>
            <a:pPr lvl="2"/>
            <a:r>
              <a:rPr lang="en-US" dirty="0"/>
              <a:t>Placement prediction model.</a:t>
            </a:r>
          </a:p>
          <a:p>
            <a:pPr lvl="2"/>
            <a:r>
              <a:rPr lang="en-US" dirty="0"/>
              <a:t>Uses:</a:t>
            </a:r>
          </a:p>
          <a:p>
            <a:pPr lvl="3"/>
            <a:r>
              <a:rPr lang="en-US" dirty="0"/>
              <a:t>CGPA </a:t>
            </a:r>
          </a:p>
          <a:p>
            <a:pPr lvl="3"/>
            <a:r>
              <a:rPr lang="en-US" dirty="0"/>
              <a:t>coding score </a:t>
            </a:r>
          </a:p>
          <a:p>
            <a:pPr lvl="3"/>
            <a:r>
              <a:rPr lang="en-US" dirty="0"/>
              <a:t>attendance percentage </a:t>
            </a:r>
          </a:p>
          <a:p>
            <a:pPr lvl="3"/>
            <a:r>
              <a:rPr lang="en-US" dirty="0"/>
              <a:t>internship count </a:t>
            </a:r>
          </a:p>
          <a:p>
            <a:pPr lvl="1"/>
            <a:r>
              <a:rPr lang="en-US" b="1" dirty="0"/>
              <a:t>Team B</a:t>
            </a:r>
          </a:p>
          <a:p>
            <a:pPr lvl="2"/>
            <a:r>
              <a:rPr lang="en-US" dirty="0" smtClean="0"/>
              <a:t>Student fail-risk </a:t>
            </a:r>
            <a:r>
              <a:rPr lang="en-US" dirty="0"/>
              <a:t>prediction model.</a:t>
            </a:r>
          </a:p>
          <a:p>
            <a:pPr lvl="3"/>
            <a:r>
              <a:rPr lang="en-US" dirty="0"/>
              <a:t>Also needs:</a:t>
            </a:r>
          </a:p>
          <a:p>
            <a:pPr lvl="4"/>
            <a:r>
              <a:rPr lang="en-US" dirty="0"/>
              <a:t>CGPA </a:t>
            </a:r>
          </a:p>
          <a:p>
            <a:pPr lvl="4"/>
            <a:r>
              <a:rPr lang="en-US" dirty="0"/>
              <a:t>attendance percentage </a:t>
            </a:r>
          </a:p>
          <a:p>
            <a:pPr lvl="4"/>
            <a:r>
              <a:rPr lang="en-US" dirty="0"/>
              <a:t>assignment </a:t>
            </a:r>
            <a:r>
              <a:rPr lang="en-US" dirty="0" smtClean="0"/>
              <a:t>average</a:t>
            </a:r>
          </a:p>
          <a:p>
            <a:pPr marL="0" indent="0" algn="ctr">
              <a:buNone/>
            </a:pPr>
            <a:r>
              <a:rPr lang="en-US" i="1" dirty="0" smtClean="0"/>
              <a:t>“Without </a:t>
            </a:r>
            <a:r>
              <a:rPr lang="en-US" i="1" dirty="0"/>
              <a:t>a feature store, both teams independently calculate the same </a:t>
            </a:r>
            <a:r>
              <a:rPr lang="en-US" i="1" dirty="0" smtClean="0"/>
              <a:t>features”</a:t>
            </a:r>
            <a:endParaRPr lang="en-US" i="1" dirty="0"/>
          </a:p>
          <a:p>
            <a:endParaRPr lang="en-US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226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Why Do We Need a Feature Store</a:t>
            </a:r>
            <a:r>
              <a:rPr lang="en-US" b="1" dirty="0" smtClean="0"/>
              <a:t>?</a:t>
            </a:r>
          </a:p>
          <a:p>
            <a:r>
              <a:rPr lang="en-US" dirty="0"/>
              <a:t>This can create:</a:t>
            </a:r>
          </a:p>
          <a:p>
            <a:pPr lvl="1"/>
            <a:r>
              <a:rPr lang="en-US" dirty="0"/>
              <a:t>duplicated work </a:t>
            </a:r>
          </a:p>
          <a:p>
            <a:pPr lvl="1"/>
            <a:r>
              <a:rPr lang="en-US" dirty="0"/>
              <a:t>different formulas </a:t>
            </a:r>
          </a:p>
          <a:p>
            <a:pPr lvl="1"/>
            <a:r>
              <a:rPr lang="en-US" dirty="0"/>
              <a:t>inconsistent values </a:t>
            </a:r>
          </a:p>
          <a:p>
            <a:pPr lvl="1"/>
            <a:r>
              <a:rPr lang="en-US" dirty="0"/>
              <a:t>difficult maintenance</a:t>
            </a:r>
          </a:p>
          <a:p>
            <a:pPr lvl="4"/>
            <a:endParaRPr lang="en-US" dirty="0"/>
          </a:p>
          <a:p>
            <a:pPr marL="0" indent="0" algn="ctr">
              <a:buNone/>
            </a:pPr>
            <a:r>
              <a:rPr lang="en-US" i="1" dirty="0"/>
              <a:t>Raw Data </a:t>
            </a:r>
            <a:r>
              <a:rPr lang="en-US" i="1" dirty="0" smtClean="0"/>
              <a:t>-&gt; </a:t>
            </a:r>
            <a:r>
              <a:rPr lang="en-US" i="1" dirty="0"/>
              <a:t>Feature Engineering </a:t>
            </a:r>
            <a:r>
              <a:rPr lang="en-US" i="1" dirty="0" smtClean="0"/>
              <a:t>-&gt; </a:t>
            </a:r>
            <a:r>
              <a:rPr lang="en-US" i="1" dirty="0"/>
              <a:t>Feature Store </a:t>
            </a:r>
            <a:r>
              <a:rPr lang="en-US" i="1" dirty="0" smtClean="0"/>
              <a:t>-&gt; </a:t>
            </a:r>
            <a:r>
              <a:rPr lang="en-US" i="1" dirty="0"/>
              <a:t>Placement </a:t>
            </a:r>
            <a:r>
              <a:rPr lang="en-US" i="1" dirty="0" smtClean="0"/>
              <a:t>Model, Student Fail-Risk Model, </a:t>
            </a:r>
            <a:r>
              <a:rPr lang="en-US" i="1" dirty="0"/>
              <a:t>Recommendation Model</a:t>
            </a: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47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Feature Engineering vs Feature </a:t>
            </a:r>
            <a:r>
              <a:rPr lang="en-US" b="1" dirty="0" smtClean="0"/>
              <a:t>Store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b="1" dirty="0"/>
              <a:t>Feature Engineering</a:t>
            </a:r>
          </a:p>
          <a:p>
            <a:pPr lvl="1"/>
            <a:r>
              <a:rPr lang="en-US" dirty="0"/>
              <a:t>Creating useful information from raw data</a:t>
            </a:r>
            <a:r>
              <a:rPr lang="en-US" dirty="0" smtClean="0"/>
              <a:t>.</a:t>
            </a:r>
          </a:p>
          <a:p>
            <a:r>
              <a:rPr lang="en-US" b="1" dirty="0"/>
              <a:t>Feature Store</a:t>
            </a:r>
          </a:p>
          <a:p>
            <a:r>
              <a:rPr lang="en-US" dirty="0"/>
              <a:t>Storing and managing the created feature</a:t>
            </a:r>
            <a:r>
              <a:rPr lang="en-US" dirty="0" smtClean="0"/>
              <a:t>.</a:t>
            </a: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74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Offline and Online Feature </a:t>
            </a:r>
            <a:r>
              <a:rPr lang="en-US" b="1" dirty="0" smtClean="0"/>
              <a:t>Stores</a:t>
            </a:r>
            <a:endParaRPr lang="en-US" b="1" dirty="0"/>
          </a:p>
          <a:p>
            <a:r>
              <a:rPr lang="en-US" dirty="0"/>
              <a:t>Feature stores often have two uses.</a:t>
            </a:r>
            <a:endParaRPr lang="en-US" b="1" dirty="0" smtClean="0"/>
          </a:p>
          <a:p>
            <a:r>
              <a:rPr lang="en-US" b="1" dirty="0"/>
              <a:t>Offline Features</a:t>
            </a:r>
          </a:p>
          <a:p>
            <a:r>
              <a:rPr lang="en-US" dirty="0"/>
              <a:t>Used mainly for:</a:t>
            </a:r>
          </a:p>
          <a:p>
            <a:pPr lvl="1"/>
            <a:r>
              <a:rPr lang="en-US" dirty="0"/>
              <a:t>historical data </a:t>
            </a:r>
          </a:p>
          <a:p>
            <a:pPr lvl="1"/>
            <a:r>
              <a:rPr lang="en-US" dirty="0"/>
              <a:t>model training </a:t>
            </a:r>
          </a:p>
          <a:p>
            <a:pPr lvl="1"/>
            <a:r>
              <a:rPr lang="en-US" dirty="0"/>
              <a:t>batch </a:t>
            </a:r>
            <a:r>
              <a:rPr lang="en-US" dirty="0" smtClean="0"/>
              <a:t>analysis</a:t>
            </a:r>
          </a:p>
          <a:p>
            <a:pPr marL="0" indent="0" algn="ctr">
              <a:buNone/>
            </a:pPr>
            <a:r>
              <a:rPr lang="en-US" dirty="0" smtClean="0"/>
              <a:t>“Student </a:t>
            </a:r>
            <a:r>
              <a:rPr lang="en-US" dirty="0"/>
              <a:t>attendance for the last four </a:t>
            </a:r>
            <a:r>
              <a:rPr lang="en-US" dirty="0" smtClean="0"/>
              <a:t>semesters”</a:t>
            </a:r>
            <a:endParaRPr lang="en-US" dirty="0"/>
          </a:p>
          <a:p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Student attendance for the last four semesters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496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Offline and Online Feature </a:t>
            </a:r>
            <a:r>
              <a:rPr lang="en-US" b="1" dirty="0" smtClean="0"/>
              <a:t>Stores</a:t>
            </a:r>
            <a:endParaRPr lang="en-US" b="1" dirty="0"/>
          </a:p>
          <a:p>
            <a:r>
              <a:rPr lang="en-US" dirty="0"/>
              <a:t>Feature stores often have two uses.</a:t>
            </a:r>
            <a:endParaRPr lang="en-US" b="1" dirty="0" smtClean="0"/>
          </a:p>
          <a:p>
            <a:r>
              <a:rPr lang="en-US" b="1" dirty="0"/>
              <a:t>Online Features</a:t>
            </a:r>
          </a:p>
          <a:p>
            <a:r>
              <a:rPr lang="en-US" dirty="0"/>
              <a:t>Used for immediate predictions.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 fraud-detection system may need</a:t>
            </a:r>
          </a:p>
          <a:p>
            <a:pPr marL="0" indent="0">
              <a:buNone/>
            </a:pPr>
            <a:r>
              <a:rPr lang="en-US" i="1" dirty="0" smtClean="0"/>
              <a:t>“Number </a:t>
            </a:r>
            <a:r>
              <a:rPr lang="en-US" i="1" dirty="0"/>
              <a:t>of transactions in the last 10 </a:t>
            </a:r>
            <a:r>
              <a:rPr lang="en-US" i="1" dirty="0" smtClean="0"/>
              <a:t>minutes”</a:t>
            </a:r>
            <a:endParaRPr lang="en-US" i="1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i="1" dirty="0" smtClean="0"/>
              <a:t>Offline </a:t>
            </a:r>
            <a:r>
              <a:rPr lang="en-US" i="1" dirty="0"/>
              <a:t>Store → Training </a:t>
            </a:r>
            <a:endParaRPr lang="en-US" i="1" dirty="0" smtClean="0"/>
          </a:p>
          <a:p>
            <a:pPr marL="0" indent="0" algn="ctr">
              <a:buNone/>
            </a:pPr>
            <a:r>
              <a:rPr lang="en-US" i="1" dirty="0" smtClean="0"/>
              <a:t>Online </a:t>
            </a:r>
            <a:r>
              <a:rPr lang="en-US" i="1" dirty="0"/>
              <a:t>Store → Real-time Prediction</a:t>
            </a: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868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Feature Stores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What Does a Feature Store Maintain?</a:t>
            </a:r>
          </a:p>
          <a:p>
            <a:r>
              <a:rPr lang="en-US" dirty="0"/>
              <a:t>A feature store may maintain:</a:t>
            </a:r>
          </a:p>
          <a:p>
            <a:pPr lvl="1"/>
            <a:r>
              <a:rPr lang="en-US" dirty="0"/>
              <a:t>feature name </a:t>
            </a:r>
          </a:p>
          <a:p>
            <a:pPr lvl="1"/>
            <a:r>
              <a:rPr lang="en-US" dirty="0"/>
              <a:t>feature value </a:t>
            </a:r>
          </a:p>
          <a:p>
            <a:pPr lvl="1"/>
            <a:r>
              <a:rPr lang="en-US" dirty="0"/>
              <a:t>data type </a:t>
            </a:r>
          </a:p>
          <a:p>
            <a:pPr lvl="1"/>
            <a:r>
              <a:rPr lang="en-US" dirty="0"/>
              <a:t>entity ID </a:t>
            </a:r>
          </a:p>
          <a:p>
            <a:pPr lvl="1"/>
            <a:r>
              <a:rPr lang="en-US" dirty="0"/>
              <a:t>feature definition </a:t>
            </a:r>
          </a:p>
          <a:p>
            <a:pPr lvl="1"/>
            <a:r>
              <a:rPr lang="en-US" dirty="0"/>
              <a:t>source </a:t>
            </a:r>
          </a:p>
          <a:p>
            <a:pPr lvl="1"/>
            <a:r>
              <a:rPr lang="en-US" dirty="0"/>
              <a:t>timestamp </a:t>
            </a:r>
          </a:p>
          <a:p>
            <a:pPr lvl="1"/>
            <a:r>
              <a:rPr lang="en-US" dirty="0"/>
              <a:t>version </a:t>
            </a:r>
          </a:p>
          <a:p>
            <a:pPr lvl="1"/>
            <a:r>
              <a:rPr lang="en-US" dirty="0"/>
              <a:t>owner </a:t>
            </a:r>
          </a:p>
          <a:p>
            <a:pPr lvl="1"/>
            <a:r>
              <a:rPr lang="en-US" dirty="0"/>
              <a:t>description</a:t>
            </a:r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350" y="2552945"/>
            <a:ext cx="6554115" cy="20274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296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Feast is an open-source feature store for machine-learning systems.</a:t>
            </a:r>
            <a:endParaRPr lang="en-US" dirty="0"/>
          </a:p>
          <a:p>
            <a:r>
              <a:rPr lang="en-US" dirty="0"/>
              <a:t>Its purpose is to make features available consistently for:</a:t>
            </a:r>
          </a:p>
          <a:p>
            <a:pPr lvl="1"/>
            <a:r>
              <a:rPr lang="en-US" dirty="0"/>
              <a:t>model training </a:t>
            </a:r>
          </a:p>
          <a:p>
            <a:pPr lvl="1"/>
            <a:r>
              <a:rPr lang="en-US" dirty="0"/>
              <a:t>batch prediction </a:t>
            </a:r>
          </a:p>
          <a:p>
            <a:pPr lvl="1"/>
            <a:r>
              <a:rPr lang="en-US" dirty="0"/>
              <a:t>real-time prediction </a:t>
            </a:r>
          </a:p>
          <a:p>
            <a:r>
              <a:rPr lang="en-US" dirty="0"/>
              <a:t>Feast manages feature definitions and retrieval.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train or deploy the ML model itself.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891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567" y="846195"/>
            <a:ext cx="9180289" cy="48415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754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567" y="846195"/>
            <a:ext cx="9180289" cy="48415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319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 smtClean="0"/>
              <a:t>Feast </a:t>
            </a:r>
            <a:r>
              <a:rPr lang="en-US" b="1" dirty="0"/>
              <a:t>Concepts</a:t>
            </a:r>
            <a:endParaRPr lang="en-US" dirty="0" smtClean="0"/>
          </a:p>
          <a:p>
            <a:pPr lvl="1"/>
            <a:r>
              <a:rPr lang="en-US" b="1" dirty="0" smtClean="0"/>
              <a:t>Entity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entity</a:t>
            </a:r>
            <a:r>
              <a:rPr lang="en-US" dirty="0"/>
              <a:t> identifies the object for which features are stored.</a:t>
            </a:r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926" y="2603202"/>
            <a:ext cx="5744377" cy="25911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131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 smtClean="0"/>
              <a:t>Feast </a:t>
            </a:r>
            <a:r>
              <a:rPr lang="en-US" b="1" dirty="0"/>
              <a:t>Concepts</a:t>
            </a:r>
            <a:endParaRPr lang="en-US" dirty="0" smtClean="0"/>
          </a:p>
          <a:p>
            <a:r>
              <a:rPr lang="en-US" b="1" dirty="0"/>
              <a:t>Feature</a:t>
            </a:r>
          </a:p>
          <a:p>
            <a:r>
              <a:rPr lang="en-US" dirty="0"/>
              <a:t>A feature is a value associated with an entity.</a:t>
            </a:r>
          </a:p>
          <a:p>
            <a:pPr lvl="1"/>
            <a:r>
              <a:rPr lang="en-US" dirty="0"/>
              <a:t>For the entity </a:t>
            </a:r>
            <a:r>
              <a:rPr lang="en-US" dirty="0" smtClean="0"/>
              <a:t>“Skill”</a:t>
            </a:r>
          </a:p>
          <a:p>
            <a:pPr lvl="1"/>
            <a:r>
              <a:rPr lang="en-US" dirty="0"/>
              <a:t>Skill = </a:t>
            </a:r>
            <a:r>
              <a:rPr lang="en-US" dirty="0" smtClean="0"/>
              <a:t>Docker</a:t>
            </a:r>
          </a:p>
          <a:p>
            <a:pPr lvl="2"/>
            <a:r>
              <a:rPr lang="en-US" dirty="0"/>
              <a:t>Possible features</a:t>
            </a:r>
            <a:r>
              <a:rPr lang="en-US" dirty="0" smtClean="0"/>
              <a:t>:</a:t>
            </a:r>
          </a:p>
          <a:p>
            <a:pPr lvl="3"/>
            <a:r>
              <a:rPr lang="en-US" dirty="0" err="1"/>
              <a:t>industry_demand</a:t>
            </a:r>
            <a:r>
              <a:rPr lang="en-US" dirty="0"/>
              <a:t> = 0.72 </a:t>
            </a:r>
            <a:endParaRPr lang="en-US" dirty="0" smtClean="0"/>
          </a:p>
          <a:p>
            <a:pPr lvl="3"/>
            <a:r>
              <a:rPr lang="en-US" dirty="0" err="1" smtClean="0"/>
              <a:t>job_role_count</a:t>
            </a:r>
            <a:r>
              <a:rPr lang="en-US" dirty="0" smtClean="0"/>
              <a:t> </a:t>
            </a:r>
            <a:r>
              <a:rPr lang="en-US" dirty="0"/>
              <a:t>= 5 </a:t>
            </a:r>
            <a:endParaRPr lang="en-US" dirty="0" smtClean="0"/>
          </a:p>
          <a:p>
            <a:pPr lvl="3"/>
            <a:r>
              <a:rPr lang="en-US" dirty="0" err="1" smtClean="0"/>
              <a:t>course_count</a:t>
            </a:r>
            <a:r>
              <a:rPr lang="en-US" dirty="0" smtClean="0"/>
              <a:t> </a:t>
            </a:r>
            <a:r>
              <a:rPr lang="en-US" dirty="0"/>
              <a:t>= 1 </a:t>
            </a:r>
            <a:endParaRPr lang="en-US" dirty="0" smtClean="0"/>
          </a:p>
          <a:p>
            <a:pPr lvl="3"/>
            <a:r>
              <a:rPr lang="en-US" dirty="0" err="1" smtClean="0"/>
              <a:t>practical_coverage</a:t>
            </a:r>
            <a:r>
              <a:rPr lang="en-US" dirty="0" smtClean="0"/>
              <a:t> </a:t>
            </a:r>
            <a:r>
              <a:rPr lang="en-US" dirty="0"/>
              <a:t>= 0 </a:t>
            </a:r>
            <a:endParaRPr lang="en-US" dirty="0" smtClean="0"/>
          </a:p>
          <a:p>
            <a:pPr lvl="3"/>
            <a:r>
              <a:rPr lang="en-US" dirty="0" err="1" smtClean="0"/>
              <a:t>project_coverage</a:t>
            </a:r>
            <a:r>
              <a:rPr lang="en-US" dirty="0" smtClean="0"/>
              <a:t> </a:t>
            </a:r>
            <a:r>
              <a:rPr lang="en-US" dirty="0"/>
              <a:t>= 0</a:t>
            </a:r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216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 smtClean="0"/>
              <a:t>Feast </a:t>
            </a:r>
            <a:r>
              <a:rPr lang="en-US" b="1" dirty="0"/>
              <a:t>Concepts</a:t>
            </a:r>
            <a:endParaRPr lang="en-US" dirty="0" smtClean="0"/>
          </a:p>
          <a:p>
            <a:r>
              <a:rPr lang="en-US" b="1" dirty="0"/>
              <a:t>Feature View</a:t>
            </a:r>
          </a:p>
          <a:p>
            <a:r>
              <a:rPr lang="en-US" dirty="0"/>
              <a:t>A </a:t>
            </a:r>
            <a:r>
              <a:rPr lang="en-US" b="1" dirty="0" err="1"/>
              <a:t>FeatureView</a:t>
            </a:r>
            <a:r>
              <a:rPr lang="en-US" dirty="0"/>
              <a:t> logically groups related features and connects them to a data source. Feast uses feature views when building historical training datasets and when loading/retrieving online features. </a:t>
            </a:r>
            <a:endParaRPr lang="en-US" dirty="0" smtClean="0"/>
          </a:p>
          <a:p>
            <a:pPr lvl="3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335" y="3791300"/>
            <a:ext cx="2238687" cy="12384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5" y="3638878"/>
            <a:ext cx="2210108" cy="15432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283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 smtClean="0"/>
              <a:t>Feast </a:t>
            </a:r>
            <a:r>
              <a:rPr lang="en-US" b="1" dirty="0"/>
              <a:t>Concepts</a:t>
            </a:r>
            <a:endParaRPr lang="en-US" dirty="0" smtClean="0"/>
          </a:p>
          <a:p>
            <a:r>
              <a:rPr lang="en-US" b="1" dirty="0"/>
              <a:t>Registry</a:t>
            </a:r>
          </a:p>
          <a:p>
            <a:r>
              <a:rPr lang="en-US" dirty="0"/>
              <a:t>The Feast Registry stores definitions of objects such as:</a:t>
            </a:r>
          </a:p>
          <a:p>
            <a:pPr lvl="1"/>
            <a:r>
              <a:rPr lang="en-US" dirty="0"/>
              <a:t>data sources </a:t>
            </a:r>
          </a:p>
          <a:p>
            <a:pPr lvl="1"/>
            <a:r>
              <a:rPr lang="en-US" dirty="0"/>
              <a:t>feature views </a:t>
            </a:r>
          </a:p>
          <a:p>
            <a:pPr lvl="1"/>
            <a:r>
              <a:rPr lang="en-US" dirty="0"/>
              <a:t>feature services </a:t>
            </a:r>
          </a:p>
          <a:p>
            <a:r>
              <a:rPr lang="en-US" dirty="0"/>
              <a:t>It allows Feast to know what features exist and how they are organized.</a:t>
            </a:r>
          </a:p>
          <a:p>
            <a:endParaRPr lang="en-US" dirty="0" smtClean="0"/>
          </a:p>
          <a:p>
            <a:pPr lvl="3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855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Feast </a:t>
            </a:r>
            <a:r>
              <a:rPr lang="en-US" b="1" dirty="0"/>
              <a:t>Concepts</a:t>
            </a:r>
            <a:endParaRPr lang="en-US" dirty="0" smtClean="0"/>
          </a:p>
          <a:p>
            <a:r>
              <a:rPr lang="en-US" b="1" dirty="0"/>
              <a:t>Feature Service</a:t>
            </a:r>
          </a:p>
          <a:p>
            <a:r>
              <a:rPr lang="en-US" dirty="0"/>
              <a:t>A </a:t>
            </a:r>
            <a:r>
              <a:rPr lang="en-US" b="1" dirty="0"/>
              <a:t>Feature Service</a:t>
            </a:r>
            <a:r>
              <a:rPr lang="en-US" dirty="0"/>
              <a:t> defines a collection of features required by a particular model or model version</a:t>
            </a:r>
            <a:r>
              <a:rPr lang="en-US" dirty="0" smtClean="0"/>
              <a:t>.</a:t>
            </a:r>
          </a:p>
          <a:p>
            <a:r>
              <a:rPr lang="en-US" dirty="0"/>
              <a:t>Suppose our </a:t>
            </a:r>
            <a:r>
              <a:rPr lang="en-US" dirty="0" smtClean="0"/>
              <a:t>skill gap-classification </a:t>
            </a:r>
            <a:r>
              <a:rPr lang="en-US" dirty="0"/>
              <a:t>model needs </a:t>
            </a:r>
            <a:endParaRPr lang="en-US" dirty="0" smtClean="0"/>
          </a:p>
          <a:p>
            <a:pPr lvl="1"/>
            <a:r>
              <a:rPr lang="en-US" dirty="0" err="1" smtClean="0"/>
              <a:t>industry_demand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role_count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course_count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practical_coverage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project_coverage</a:t>
            </a:r>
            <a:endParaRPr lang="en-US" dirty="0" smtClean="0"/>
          </a:p>
          <a:p>
            <a:r>
              <a:rPr lang="en-US" dirty="0"/>
              <a:t>These can be grouped as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Skill Gap Model Feature Service</a:t>
            </a:r>
          </a:p>
          <a:p>
            <a:endParaRPr lang="en-US" dirty="0" smtClean="0"/>
          </a:p>
          <a:p>
            <a:pPr lvl="3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574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Feast Operation</a:t>
            </a:r>
          </a:p>
          <a:p>
            <a:r>
              <a:rPr lang="en-US" dirty="0"/>
              <a:t>Suppose features currently exist in historical storage</a:t>
            </a:r>
            <a:r>
              <a:rPr lang="en-US" dirty="0" smtClean="0"/>
              <a:t>.</a:t>
            </a:r>
          </a:p>
          <a:p>
            <a:r>
              <a:rPr lang="en-US" dirty="0"/>
              <a:t>Offline Store </a:t>
            </a:r>
            <a:r>
              <a:rPr lang="en-US" dirty="0" smtClean="0"/>
              <a:t>-&gt; </a:t>
            </a:r>
            <a:r>
              <a:rPr lang="en-US" dirty="0"/>
              <a:t>Materialize </a:t>
            </a:r>
            <a:r>
              <a:rPr lang="en-US" dirty="0" smtClean="0"/>
              <a:t>-&gt; </a:t>
            </a:r>
            <a:r>
              <a:rPr lang="en-US" dirty="0"/>
              <a:t>Online </a:t>
            </a:r>
            <a:r>
              <a:rPr lang="en-US" dirty="0" smtClean="0"/>
              <a:t>Store</a:t>
            </a:r>
          </a:p>
          <a:p>
            <a:r>
              <a:rPr lang="en-US" b="1" dirty="0"/>
              <a:t>Materialization</a:t>
            </a:r>
            <a:r>
              <a:rPr lang="en-US" dirty="0"/>
              <a:t> copies feature values needed for online serving from the offline data source into the online store</a:t>
            </a:r>
            <a:r>
              <a:rPr lang="en-US" dirty="0" smtClean="0"/>
              <a:t>.</a:t>
            </a:r>
          </a:p>
          <a:p>
            <a:r>
              <a:rPr lang="en-US" dirty="0"/>
              <a:t>This allows the model to access current feature values quickly.</a:t>
            </a:r>
            <a:endParaRPr lang="en-US" dirty="0" smtClean="0"/>
          </a:p>
          <a:p>
            <a:pPr lvl="3"/>
            <a:endParaRPr lang="en-US" dirty="0"/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863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7030" y="99695"/>
            <a:ext cx="6604000" cy="108013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1C273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Feast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42315" y="1179195"/>
            <a:ext cx="10515600" cy="5017135"/>
          </a:xfrm>
        </p:spPr>
        <p:txBody>
          <a:bodyPr>
            <a:normAutofit/>
          </a:bodyPr>
          <a:lstStyle/>
          <a:p>
            <a:r>
              <a:rPr lang="en-US" b="1" dirty="0"/>
              <a:t>Feast Operation</a:t>
            </a:r>
          </a:p>
          <a:p>
            <a:pPr marL="0" indent="0" algn="ctr">
              <a:buNone/>
            </a:pPr>
            <a:endParaRPr lang="en-US" i="1" dirty="0"/>
          </a:p>
          <a:p>
            <a:pPr lvl="1"/>
            <a:endParaRPr lang="en-US" dirty="0"/>
          </a:p>
          <a:p>
            <a:pPr lvl="2"/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Dept. of CSE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629" y="941620"/>
            <a:ext cx="3886742" cy="54922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262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Dept. of CSE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MLOPS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5"/>
          <p:cNvSpPr txBox="1"/>
          <p:nvPr/>
        </p:nvSpPr>
        <p:spPr>
          <a:xfrm>
            <a:off x="2346960" y="2272284"/>
            <a:ext cx="74980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5000" b="1">
                <a:solidFill>
                  <a:srgbClr val="03122E"/>
                </a:solidFill>
                <a:latin typeface="Georgia" panose="02040502050405020303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5497" y="3150356"/>
            <a:ext cx="2679826" cy="75568"/>
          </a:xfrm>
          <a:prstGeom prst="rect">
            <a:avLst/>
          </a:prstGeom>
          <a:solidFill>
            <a:srgbClr val="0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710</Words>
  <Application>Microsoft Office PowerPoint</Application>
  <PresentationFormat>Widescreen</PresentationFormat>
  <Paragraphs>238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 Unicode MS</vt:lpstr>
      <vt:lpstr>Arial</vt:lpstr>
      <vt:lpstr>Calibri</vt:lpstr>
      <vt:lpstr>Calibri Light</vt:lpstr>
      <vt:lpstr>Cambria</vt:lpstr>
      <vt:lpstr>Georgia</vt:lpstr>
      <vt:lpstr>Times New Roman</vt:lpstr>
      <vt:lpstr>Office Theme</vt:lpstr>
      <vt:lpstr>Module-1 Unit-2 </vt:lpstr>
      <vt:lpstr>Contents</vt:lpstr>
      <vt:lpstr>Feature Stores</vt:lpstr>
      <vt:lpstr>Feature Stores</vt:lpstr>
      <vt:lpstr>Feature Stores</vt:lpstr>
      <vt:lpstr>Feature Stores</vt:lpstr>
      <vt:lpstr>Feature Stores</vt:lpstr>
      <vt:lpstr>Feature Stores</vt:lpstr>
      <vt:lpstr>Feature Stores</vt:lpstr>
      <vt:lpstr>Feast</vt:lpstr>
      <vt:lpstr>Feast</vt:lpstr>
      <vt:lpstr>Feast</vt:lpstr>
      <vt:lpstr>Feast</vt:lpstr>
      <vt:lpstr>Feast</vt:lpstr>
      <vt:lpstr>Feast</vt:lpstr>
      <vt:lpstr>Feast</vt:lpstr>
      <vt:lpstr>Feast</vt:lpstr>
      <vt:lpstr>Feast</vt:lpstr>
      <vt:lpstr>Feast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keert</dc:creator>
  <cp:lastModifiedBy>Ravi Kishore</cp:lastModifiedBy>
  <cp:revision>147</cp:revision>
  <dcterms:created xsi:type="dcterms:W3CDTF">2026-06-29T06:06:00Z</dcterms:created>
  <dcterms:modified xsi:type="dcterms:W3CDTF">2026-08-10T04:33:47Z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CC0FE5070E3B45F4A4F12C7FB7EDEF54_11</vt:lpwstr>
  </property>
</Properties>
</file>